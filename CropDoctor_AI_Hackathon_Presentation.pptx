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274D37"/>
          </a:solidFill>
          <a:ln>
            <a:solidFill>
              <a:srgbClr val="E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9A800"/>
                </a:solidFill>
              </a:defRPr>
            </a:pPr>
            <a:r>
              <a:t>🌾 AI FOR SMART AGRICULTURE IN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CropDoctor AI</a:t>
            </a:r>
          </a:p>
          <a:p>
            <a:pPr>
              <a:defRPr sz="2000">
                <a:solidFill>
                  <a:srgbClr val="DCF5E7"/>
                </a:solidFill>
              </a:defRPr>
            </a:pPr>
            <a:r>
              <a:t>AI-Powered Plant Disease Identification, Grad-CAM Explainability &amp; Weather-Driven Outbreak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60320" cy="164592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3B6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A800"/>
                </a:solidFill>
              </a:defRPr>
            </a:pPr>
            <a:r>
              <a:t>🔬 95.6% Vision AI</a:t>
            </a:r>
          </a:p>
          <a:p>
            <a:pPr>
              <a:defRPr sz="1100">
                <a:solidFill>
                  <a:srgbClr val="EEF2F0"/>
                </a:solidFill>
              </a:defRPr>
            </a:pPr>
            <a:r>
              <a:t>PyTorch EfficientNet-B0 with zero black-box Grad-CAM heatmaps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560320" cy="164592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3B6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A800"/>
                </a:solidFill>
              </a:defRPr>
            </a:pPr>
            <a:r>
              <a:t>📏 OpenCV Severity</a:t>
            </a:r>
          </a:p>
          <a:p>
            <a:pPr>
              <a:defRPr sz="1100">
                <a:solidFill>
                  <a:srgbClr val="EEF2F0"/>
                </a:solidFill>
              </a:defRPr>
            </a:pPr>
            <a:r>
              <a:t>Color segmentation measuring exact affected leaf area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2560320" cy="164592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3B6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A800"/>
                </a:solidFill>
              </a:defRPr>
            </a:pPr>
            <a:r>
              <a:t>🌦️ Geospatial Risk</a:t>
            </a:r>
          </a:p>
          <a:p>
            <a:pPr>
              <a:defRPr sz="1100">
                <a:solidFill>
                  <a:srgbClr val="EEF2F0"/>
                </a:solidFill>
              </a:defRPr>
            </a:pPr>
            <a:r>
              <a:t>Open-Meteo weather telemetry + XGBoost 7-day outbreak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931920"/>
            <a:ext cx="2560320" cy="164592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3B6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A800"/>
                </a:solidFill>
              </a:defRPr>
            </a:pPr>
            <a:r>
              <a:t>🤖 Multilingual RAG</a:t>
            </a:r>
          </a:p>
          <a:p>
            <a:pPr>
              <a:defRPr sz="1100">
                <a:solidFill>
                  <a:srgbClr val="EEF2F0"/>
                </a:solidFill>
              </a:defRPr>
            </a:pPr>
            <a:r>
              <a:t>Grounded advisor in Urdu, Sindhi &amp; English with chemical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Built for Pakistani Farmers · Wheat, Cotton, Rice, Sugarcane · Real-Time Web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The Critical Crisis: Crop Losses in Pakistan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91B1B"/>
                </a:solidFill>
              </a:defRPr>
            </a:pPr>
            <a:r>
              <a:t>🚨 25% – 40% Annual Crop Yield Loss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Fungal rusts, powdery mildew, and viral leaf curl decimate staple crops (Wheat, Cotton, Rice), costing Pakistan billions of rupees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👨‍🌾 Shortage of Field Agricultural Officers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There is approximately 1 extension worker per 3,000+ farmers across Punjab and Sindh. Rural farmers cannot access timely lab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91B1B"/>
                </a:solidFill>
              </a:defRPr>
            </a:pPr>
            <a:r>
              <a:t>☠️ Inappropriate Chemical &amp; Pesticide Misuse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Farmers panic-spray hazardous, unregistered pesticides without knowing disease identity or dosage, causing soil toxicity and financial debt.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⏳ Black-Box AI Distrust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Generic mobile apps output plain disease labels with zero visual evidence. Neither agronomists nor farmers trust recommendations they cannot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CropDoctor AI: Transparent, Verifiable Farm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1. Instant Leaf Scanner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Upload or capture crop leaf via camera. Multi-class PyTorch model identifies healthy leaves and diseases with &gt;95%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2. Explainable Grad-CAM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Generates neural saliency heatmaps showing exactly which leaf regions triggered the AI decision — eliminating black-box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3. OpenCV Severity Metric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Automated color-space segmentation measures infected leaf surface % (Low, Moderate, Severe) for treatment prioritization.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4. Epidemiological Risk Map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Combines live Open-Meteo weather parameters with XGBoost to forecast district-level outbreak risk across 30+ Pakistan districts.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5. Grounded Multilingual RAG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Voice &amp; text agricultural advisor answering in Urdu, Sindhi, and English strictly backed by verified PARC/FAO knowledge 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Four-Tier Modular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Tier 1: Client Experience Layer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Next.js 16 (App Router) · TypeScript · Tailwind CSS · Progressive Web App (PWA) · In-Browser Camera Scanner · Multilingual Switcher (EN, UR, SD) · Responsive Mobile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Tier 2: API Gateway &amp; Orchestration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FastAPI (Asynchronous) · Pydantic v2 Type Validation · SQLAlchemy Async Engine · SQLite / Cloud Postgres · CORS &amp; Privacy Sanitizer (District Centroids)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Tier 3: Vision &amp; Explainability Core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PyTorch EfficientNet-B0 (Trained on Pakistani Crop Datasets) · Grad-CAM Convolutional Attention Overlays · OpenCV HSV Color Masking for Severity Surface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Tier 4: RAG Knowledge &amp; Risk Analytics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FAISS Vector DB (37 Verified Agricultural Guides) · SentenceTransformers (MiniLM-L12-v2) · Groq Qwen LLM · Open-Meteo Weather API + XGBoost Outbreak Risk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TECH STACK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Technology Stack: Why We Chose Each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Frontend: Next.js 16 + TypeScript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High-performance React Server Components, fast Turbopack compilation, SEO-friendly, and mobile-first experience for rural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Backend API: FastAPI + Async Python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Native integration with Python ML pipelines (PyTorch, OpenCV), asynchronous non-blocking I/O for heavy model inferencing.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Vision Backbone: EfficientNet-B0 (PyTorch)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Optimal balance of top-1 classification accuracy (95.6%) and low parameter size (5.3M params) for fast CPU/edge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Explainability: Grad-CAM + OpenCV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Produces visual heatmaps of neural activations without retraining; OpenCV calculates precise necrotic leaf pixel ratios.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Semantic Search: FAISS + MiniLM Embeddings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Microsecond vector search on local CPU with zero cloud indexing costs; native support for multilingual semantic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6634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LLM Engine: Groq / Qwen 2.5</a:t>
            </a:r>
          </a:p>
          <a:p>
            <a:pPr>
              <a:defRPr sz="1100">
                <a:solidFill>
                  <a:srgbClr val="4B5563"/>
                </a:solidFill>
              </a:defRPr>
            </a:pPr>
            <a:r>
              <a:t>Sub-second token generation for Urdu and English; structured reasoning adhering strictly to RAG context bounds.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CORE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Explainable AI (Grad-CAM) &amp; OpenCV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🔥 Grad-CAM Saliency Heatmaps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Why it matters: Judges and agricultural scientists reject black-box predictions. Grad-CAM computes gradients flowing into the final convolutional layer of EfficientNet-B0 to highlight the exact visual lesions that caused the classification.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Result: 100% transparent visual confirmation side-by-side with original scanned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📐 OpenCV Automated Severity Scoring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Why it matters: Simply diagnosing 'Rust' is not enough; treatment depends on whether 2% or 50% of the leaf is destroyed. OpenCV applies adaptive HSV color masking to segment diseased tissue from green canopy.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Result: Categorizes infection into Healthy (&lt;1%), Low (&lt;5%), Moderate (5-25%), or Severe (&gt;25%).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26"/>
                </a:solidFill>
              </a:defRPr>
            </a:pPr>
            <a:r>
              <a:t>🛡️ Hallucination-Free Guardrails</a:t>
            </a:r>
          </a:p>
          <a:p>
            <a:pPr>
              <a:defRPr sz="1200">
                <a:solidFill>
                  <a:srgbClr val="4B5563"/>
                </a:solidFill>
              </a:defRPr>
            </a:pPr>
            <a:r>
              <a:t>Why it matters: LLMs often invent dangerous chemical recipes. Our RAG pipeline intercepts dosage questions, verifies against 37 PARC guides, and strictly refers farmers to registered agronomists when data is insufficient.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Result: Safe, reliable, government-aligned agricultural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PREDICTIVE EPIDEMIOLOGY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District Disease Risk Map: Preventive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🌦️ Real-Time Weather Telemetry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Pulls hourly temperature, relative humidity, dew point, and precipitation from Open-Meteo for 30+ Pakistan districts (Hyderabad, Multan, Faisalabad, etc.).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📊 XGBoost Outbreak Risk Model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Fungal pathogens require specific temperature &amp; leaf-wetness windows (e.g. Wheat Rust at 15–22°C + &gt;80% RH). XGBoost computes a 7-day outbreak risk index (0–100%).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🗺️ Interactive Pakistan Geospatial Map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Visualizes risk levels with color-coded markers (Low, Medium, High, Critical) so provincial agricultural planners and farmers can take preventive action BEFORE epidemics hit.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🔒 Zero GPS Location Tracking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Protects smallholder farmers' privacy by strictly displaying district centroid reference coordinates. No private farmer GPS points are ever stored or shared.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Live Demonstration Walkthrough (3-Minute Pitch)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A800"/>
                </a:solidFill>
              </a:defRPr>
            </a:pPr>
            <a:r>
              <a:t>Minute 1: Leaf Scanning &amp; AI Inference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Open /diagnose -&gt; Click sample 'Wheat Leaf Rust (95%)' or upload -&gt; Watch automated 4-stage pipeline classify with 95.6%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Minute 2: Explainability &amp; OpenCV Severity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Inspect /results -&gt; Show original leaf vs. Grad-CAM neural attention heatmap -&gt; Show OpenCV leaf surface severity metric (12.8%).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Minute 3: Regional Risk &amp; Multilingual RAG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Navigate to /risk-map -&gt; Highlight Hyderabad / Multan disease outbreak probability -&gt; Open /advisor -&gt; Ask in Urdu/English for Powdery Mildew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SCALABILITY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26"/>
                </a:solidFill>
              </a:defRPr>
            </a:pPr>
            <a:r>
              <a:t>Future Roadmap &amp; Real-World Agricultural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📱 On-Device Edge Deployment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Convert PyTorch weights to INT8 ONNX &amp; TensorFlow Lite for offline inference on low-cost Android phones in remote rural areas without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🎙️ Voice-First Multimodal AI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Integrate Whisper voice transcription to allow illiterate farmers to speak their crop symptoms in local Punjabi, Saraiki, Pashto, and Sindhi.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🏛️ Provincial Agri-Dashboard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Provide Ministry of Agriculture &amp; extension directorates with live epidemic heatmaps to dispatch targeted fungicide subsidies and quarantine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26"/>
                </a:solidFill>
              </a:defRPr>
            </a:pPr>
            <a:r>
              <a:t>🌱 Sustainable Eco-Farming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Reduce chemical runoff and ground-water contamination by promoting targeted Integrated Pest Management (IPM) rather than blind preventive spraying.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Empowering Pakistani Agriculture With Transparent AI</a:t>
            </a:r>
          </a:p>
          <a:p>
            <a:pPr>
              <a:defRPr sz="2000">
                <a:solidFill>
                  <a:srgbClr val="DCF5E7"/>
                </a:solidFill>
              </a:defRPr>
            </a:pPr>
            <a:r>
              <a:t>CropDoctor AI bridges the gap between complex deep learning models and smallholder farmers.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383280" cy="137160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E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9A800"/>
                </a:solidFill>
              </a:defRPr>
            </a:pPr>
            <a:r>
              <a:t>✅ 95.6% Accuracy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Real PyTorch EfficientNet-B0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4114800"/>
            <a:ext cx="3383280" cy="137160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E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9A800"/>
                </a:solidFill>
              </a:defRPr>
            </a:pPr>
            <a:r>
              <a:t>✅ Zero Black Box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Full Grad-CAM visual heatmaps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114800"/>
            <a:ext cx="3383280" cy="1371600"/>
          </a:xfrm>
          <a:prstGeom prst="roundRect">
            <a:avLst/>
          </a:prstGeom>
          <a:solidFill>
            <a:srgbClr val="244432"/>
          </a:solidFill>
          <a:ln w="12700">
            <a:solidFill>
              <a:srgbClr val="E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9A800"/>
                </a:solidFill>
              </a:defRPr>
            </a:pPr>
            <a:r>
              <a:t>✅ Production Ready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FastAPI + Next.js 16 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7F3D0"/>
                </a:solidFill>
              </a:defRPr>
            </a:pPr>
            <a:r>
              <a:t>Thank You! · Questions &amp; Answers · Live Demonstration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